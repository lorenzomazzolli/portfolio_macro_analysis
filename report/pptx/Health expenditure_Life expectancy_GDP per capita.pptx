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4" r:id="rId2"/>
    <p:sldId id="263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 autoAdjust="0"/>
    <p:restoredTop sz="90809" autoAdjust="0"/>
  </p:normalViewPr>
  <p:slideViewPr>
    <p:cSldViewPr snapToGrid="0" snapToObjects="1">
      <p:cViewPr varScale="1">
        <p:scale>
          <a:sx n="93" d="100"/>
          <a:sy n="93" d="100"/>
        </p:scale>
        <p:origin x="232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F42CE-C095-462E-9135-9C76EDCECE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6B222F-DBC5-4BE0-8909-7276DB251931}">
      <dgm:prSet/>
      <dgm:spPr/>
      <dgm:t>
        <a:bodyPr/>
        <a:lstStyle/>
        <a:p>
          <a:r>
            <a:rPr lang="it-IT" b="1"/>
            <a:t>Summary of Key Terms</a:t>
          </a:r>
          <a:endParaRPr lang="en-US"/>
        </a:p>
      </dgm:t>
    </dgm:pt>
    <dgm:pt modelId="{065B065C-187A-4E28-AF9C-1A90188BBF22}" type="parTrans" cxnId="{7673AE2F-87C8-4B62-A5E2-C8BF67F53EE6}">
      <dgm:prSet/>
      <dgm:spPr/>
      <dgm:t>
        <a:bodyPr/>
        <a:lstStyle/>
        <a:p>
          <a:endParaRPr lang="en-US"/>
        </a:p>
      </dgm:t>
    </dgm:pt>
    <dgm:pt modelId="{A0A9E076-9426-42CE-AEA5-F998014D85E4}" type="sibTrans" cxnId="{7673AE2F-87C8-4B62-A5E2-C8BF67F53EE6}">
      <dgm:prSet/>
      <dgm:spPr/>
      <dgm:t>
        <a:bodyPr/>
        <a:lstStyle/>
        <a:p>
          <a:endParaRPr lang="en-US"/>
        </a:p>
      </dgm:t>
    </dgm:pt>
    <dgm:pt modelId="{E64CE104-2758-43E5-ACD1-89EA51319B82}">
      <dgm:prSet/>
      <dgm:spPr/>
      <dgm:t>
        <a:bodyPr/>
        <a:lstStyle/>
        <a:p>
          <a:r>
            <a:rPr lang="it-IT" b="1" dirty="0"/>
            <a:t>PPP (</a:t>
          </a:r>
          <a:r>
            <a:rPr lang="it-IT" b="1" dirty="0" err="1"/>
            <a:t>Purchasing</a:t>
          </a:r>
          <a:r>
            <a:rPr lang="it-IT" b="1" dirty="0"/>
            <a:t> Power </a:t>
          </a:r>
          <a:r>
            <a:rPr lang="it-IT" b="1" dirty="0" err="1"/>
            <a:t>Parity</a:t>
          </a:r>
          <a:r>
            <a:rPr lang="it-IT" b="1" dirty="0"/>
            <a:t>):</a:t>
          </a:r>
          <a:r>
            <a:rPr lang="it-IT" dirty="0"/>
            <a:t> PPP stands for </a:t>
          </a:r>
          <a:r>
            <a:rPr lang="it-IT" dirty="0" err="1"/>
            <a:t>Purchasing</a:t>
          </a:r>
          <a:r>
            <a:rPr lang="it-IT" dirty="0"/>
            <a:t> Power </a:t>
          </a:r>
          <a:r>
            <a:rPr lang="it-IT" dirty="0" err="1"/>
            <a:t>Parity</a:t>
          </a:r>
          <a:r>
            <a:rPr lang="it-IT" dirty="0"/>
            <a:t>. </a:t>
          </a:r>
          <a:r>
            <a:rPr lang="it-IT" dirty="0" err="1"/>
            <a:t>It</a:t>
          </a:r>
          <a:r>
            <a:rPr lang="it-IT" dirty="0"/>
            <a:t> </a:t>
          </a:r>
          <a:r>
            <a:rPr lang="it-IT" dirty="0" err="1"/>
            <a:t>reflects</a:t>
          </a:r>
          <a:r>
            <a:rPr lang="it-IT" dirty="0"/>
            <a:t> </a:t>
          </a:r>
          <a:r>
            <a:rPr lang="it-IT" dirty="0" err="1"/>
            <a:t>how</a:t>
          </a:r>
          <a:r>
            <a:rPr lang="it-IT" dirty="0"/>
            <a:t> </a:t>
          </a:r>
          <a:r>
            <a:rPr lang="it-IT" dirty="0" err="1"/>
            <a:t>much</a:t>
          </a:r>
          <a:r>
            <a:rPr lang="it-IT" dirty="0"/>
            <a:t> a </a:t>
          </a:r>
          <a:r>
            <a:rPr lang="it-IT" dirty="0" err="1"/>
            <a:t>unit</a:t>
          </a:r>
          <a:r>
            <a:rPr lang="it-IT" dirty="0"/>
            <a:t> of </a:t>
          </a:r>
          <a:r>
            <a:rPr lang="it-IT" dirty="0" err="1"/>
            <a:t>currency</a:t>
          </a:r>
          <a:r>
            <a:rPr lang="it-IT" dirty="0"/>
            <a:t> can </a:t>
          </a:r>
          <a:r>
            <a:rPr lang="it-IT" dirty="0" err="1"/>
            <a:t>buy</a:t>
          </a:r>
          <a:r>
            <a:rPr lang="it-IT" dirty="0"/>
            <a:t> in </a:t>
          </a:r>
          <a:r>
            <a:rPr lang="it-IT" dirty="0" err="1"/>
            <a:t>terms</a:t>
          </a:r>
          <a:r>
            <a:rPr lang="it-IT" dirty="0"/>
            <a:t> of </a:t>
          </a:r>
          <a:r>
            <a:rPr lang="it-IT" dirty="0" err="1"/>
            <a:t>goods</a:t>
          </a:r>
          <a:r>
            <a:rPr lang="it-IT" dirty="0"/>
            <a:t> and services </a:t>
          </a:r>
          <a:r>
            <a:rPr lang="it-IT" dirty="0" err="1"/>
            <a:t>within</a:t>
          </a:r>
          <a:r>
            <a:rPr lang="it-IT" dirty="0"/>
            <a:t> a country. </a:t>
          </a:r>
          <a:r>
            <a:rPr lang="it-IT" dirty="0" err="1"/>
            <a:t>This</a:t>
          </a:r>
          <a:r>
            <a:rPr lang="it-IT" dirty="0"/>
            <a:t> </a:t>
          </a:r>
          <a:r>
            <a:rPr lang="it-IT" dirty="0" err="1"/>
            <a:t>adjustment</a:t>
          </a:r>
          <a:r>
            <a:rPr lang="it-IT" dirty="0"/>
            <a:t> </a:t>
          </a:r>
          <a:r>
            <a:rPr lang="it-IT" dirty="0" err="1"/>
            <a:t>allows</a:t>
          </a:r>
          <a:r>
            <a:rPr lang="it-IT" dirty="0"/>
            <a:t> for </a:t>
          </a:r>
          <a:r>
            <a:rPr lang="it-IT" dirty="0" err="1"/>
            <a:t>meaningful</a:t>
          </a:r>
          <a:r>
            <a:rPr lang="it-IT" dirty="0"/>
            <a:t> </a:t>
          </a:r>
          <a:r>
            <a:rPr lang="it-IT" dirty="0" err="1"/>
            <a:t>comparisons</a:t>
          </a:r>
          <a:r>
            <a:rPr lang="it-IT" dirty="0"/>
            <a:t> of </a:t>
          </a:r>
          <a:r>
            <a:rPr lang="it-IT" dirty="0" err="1"/>
            <a:t>income</a:t>
          </a:r>
          <a:r>
            <a:rPr lang="it-IT" dirty="0"/>
            <a:t> and </a:t>
          </a:r>
          <a:r>
            <a:rPr lang="it-IT" dirty="0" err="1"/>
            <a:t>expenditure</a:t>
          </a:r>
          <a:r>
            <a:rPr lang="it-IT" dirty="0"/>
            <a:t> </a:t>
          </a:r>
          <a:r>
            <a:rPr lang="it-IT" dirty="0" err="1"/>
            <a:t>across</a:t>
          </a:r>
          <a:r>
            <a:rPr lang="it-IT" dirty="0"/>
            <a:t> countries by accounting for </a:t>
          </a:r>
          <a:r>
            <a:rPr lang="it-IT" dirty="0" err="1"/>
            <a:t>differences</a:t>
          </a:r>
          <a:r>
            <a:rPr lang="it-IT" dirty="0"/>
            <a:t> in </a:t>
          </a:r>
          <a:r>
            <a:rPr lang="it-IT" dirty="0" err="1"/>
            <a:t>local</a:t>
          </a:r>
          <a:r>
            <a:rPr lang="it-IT" dirty="0"/>
            <a:t> price </a:t>
          </a:r>
          <a:r>
            <a:rPr lang="it-IT" dirty="0" err="1"/>
            <a:t>levels</a:t>
          </a:r>
          <a:r>
            <a:rPr lang="it-IT" dirty="0"/>
            <a:t> and cost of living.</a:t>
          </a:r>
          <a:endParaRPr lang="en-US" dirty="0"/>
        </a:p>
      </dgm:t>
    </dgm:pt>
    <dgm:pt modelId="{7AA84BCE-19BE-4A36-85F2-965029E7A6DD}" type="parTrans" cxnId="{FDE78CA3-A825-41A8-92D7-6D4829384912}">
      <dgm:prSet/>
      <dgm:spPr/>
      <dgm:t>
        <a:bodyPr/>
        <a:lstStyle/>
        <a:p>
          <a:endParaRPr lang="en-US"/>
        </a:p>
      </dgm:t>
    </dgm:pt>
    <dgm:pt modelId="{79D8DAFC-6A75-42C1-8906-6EF936137B03}" type="sibTrans" cxnId="{FDE78CA3-A825-41A8-92D7-6D4829384912}">
      <dgm:prSet/>
      <dgm:spPr/>
      <dgm:t>
        <a:bodyPr/>
        <a:lstStyle/>
        <a:p>
          <a:endParaRPr lang="en-US"/>
        </a:p>
      </dgm:t>
    </dgm:pt>
    <dgm:pt modelId="{C6F6E5A4-4A53-47B0-B070-1E20A75B1051}">
      <dgm:prSet/>
      <dgm:spPr/>
      <dgm:t>
        <a:bodyPr/>
        <a:lstStyle/>
        <a:p>
          <a:r>
            <a:rPr lang="it-IT" b="1"/>
            <a:t>EU15:</a:t>
          </a:r>
          <a:r>
            <a:rPr lang="it-IT"/>
            <a:t> The 15 countries in the European Union before the 2004 enlargement.</a:t>
          </a:r>
          <a:endParaRPr lang="en-US"/>
        </a:p>
      </dgm:t>
    </dgm:pt>
    <dgm:pt modelId="{20D48076-2B20-41B2-9347-D16C4E4C322A}" type="parTrans" cxnId="{6BD3AC88-F29C-4E9A-9214-4B86355E51D3}">
      <dgm:prSet/>
      <dgm:spPr/>
      <dgm:t>
        <a:bodyPr/>
        <a:lstStyle/>
        <a:p>
          <a:endParaRPr lang="en-US"/>
        </a:p>
      </dgm:t>
    </dgm:pt>
    <dgm:pt modelId="{987C7BFA-4905-4B66-B153-178D05EFA4CB}" type="sibTrans" cxnId="{6BD3AC88-F29C-4E9A-9214-4B86355E51D3}">
      <dgm:prSet/>
      <dgm:spPr/>
      <dgm:t>
        <a:bodyPr/>
        <a:lstStyle/>
        <a:p>
          <a:endParaRPr lang="en-US"/>
        </a:p>
      </dgm:t>
    </dgm:pt>
    <dgm:pt modelId="{06B205C3-11D5-4BD7-A38E-31D8AFF0FD9C}">
      <dgm:prSet/>
      <dgm:spPr/>
      <dgm:t>
        <a:bodyPr/>
        <a:lstStyle/>
        <a:p>
          <a:r>
            <a:rPr lang="it-IT" b="1"/>
            <a:t>EU28:</a:t>
          </a:r>
          <a:r>
            <a:rPr lang="it-IT"/>
            <a:t> All EU countries prior to the UK leaving the EU.</a:t>
          </a:r>
          <a:endParaRPr lang="en-US"/>
        </a:p>
      </dgm:t>
    </dgm:pt>
    <dgm:pt modelId="{37E2EB66-F0F9-495B-A894-FC5517530FCC}" type="parTrans" cxnId="{D23B94BA-4357-4A17-84C9-6319CEA5D46D}">
      <dgm:prSet/>
      <dgm:spPr/>
      <dgm:t>
        <a:bodyPr/>
        <a:lstStyle/>
        <a:p>
          <a:endParaRPr lang="en-US"/>
        </a:p>
      </dgm:t>
    </dgm:pt>
    <dgm:pt modelId="{E0A7ED76-F829-46A5-9588-4E9C4F803BC2}" type="sibTrans" cxnId="{D23B94BA-4357-4A17-84C9-6319CEA5D46D}">
      <dgm:prSet/>
      <dgm:spPr/>
      <dgm:t>
        <a:bodyPr/>
        <a:lstStyle/>
        <a:p>
          <a:endParaRPr lang="en-US"/>
        </a:p>
      </dgm:t>
    </dgm:pt>
    <dgm:pt modelId="{5BB5C21B-EC8F-43BA-9293-958950C4378F}">
      <dgm:prSet/>
      <dgm:spPr/>
      <dgm:t>
        <a:bodyPr/>
        <a:lstStyle/>
        <a:p>
          <a:r>
            <a:rPr lang="it-IT" b="1"/>
            <a:t>EFTA:</a:t>
          </a:r>
          <a:r>
            <a:rPr lang="it-IT"/>
            <a:t> Non-EU countries in the European single market (Iceland, Norway, Switzerland).</a:t>
          </a:r>
          <a:endParaRPr lang="en-US"/>
        </a:p>
      </dgm:t>
    </dgm:pt>
    <dgm:pt modelId="{0CFA7AB3-B67A-4C13-A6C1-6519FD2C27A0}" type="parTrans" cxnId="{664CB19C-DBB6-48E2-A12E-460156182E1F}">
      <dgm:prSet/>
      <dgm:spPr/>
      <dgm:t>
        <a:bodyPr/>
        <a:lstStyle/>
        <a:p>
          <a:endParaRPr lang="en-US"/>
        </a:p>
      </dgm:t>
    </dgm:pt>
    <dgm:pt modelId="{83368404-F397-4A95-A15D-7132ED23F2B3}" type="sibTrans" cxnId="{664CB19C-DBB6-48E2-A12E-460156182E1F}">
      <dgm:prSet/>
      <dgm:spPr/>
      <dgm:t>
        <a:bodyPr/>
        <a:lstStyle/>
        <a:p>
          <a:endParaRPr lang="en-US"/>
        </a:p>
      </dgm:t>
    </dgm:pt>
    <dgm:pt modelId="{B676A556-FFF6-4D55-8D53-46B225EB52AC}">
      <dgm:prSet/>
      <dgm:spPr/>
      <dgm:t>
        <a:bodyPr/>
        <a:lstStyle/>
        <a:p>
          <a:r>
            <a:rPr lang="it-IT" b="1" dirty="0"/>
            <a:t>Log (ln) scale:</a:t>
          </a:r>
          <a:r>
            <a:rPr lang="it-IT" dirty="0"/>
            <a:t> A </a:t>
          </a:r>
          <a:r>
            <a:rPr lang="it-IT" dirty="0" err="1"/>
            <a:t>logarithmic</a:t>
          </a:r>
          <a:r>
            <a:rPr lang="it-IT" dirty="0"/>
            <a:t> (</a:t>
          </a:r>
          <a:r>
            <a:rPr lang="it-IT" dirty="0" err="1"/>
            <a:t>natural</a:t>
          </a:r>
          <a:r>
            <a:rPr lang="it-IT" dirty="0"/>
            <a:t> log) scale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used</a:t>
          </a:r>
          <a:r>
            <a:rPr lang="it-IT" dirty="0"/>
            <a:t> to </a:t>
          </a:r>
          <a:r>
            <a:rPr lang="it-IT" dirty="0" err="1"/>
            <a:t>manage</a:t>
          </a:r>
          <a:r>
            <a:rPr lang="it-IT" dirty="0"/>
            <a:t> </a:t>
          </a:r>
          <a:r>
            <a:rPr lang="it-IT" dirty="0" err="1"/>
            <a:t>skewed</a:t>
          </a:r>
          <a:r>
            <a:rPr lang="it-IT" dirty="0"/>
            <a:t> </a:t>
          </a:r>
          <a:r>
            <a:rPr lang="it-IT" dirty="0" err="1"/>
            <a:t>distributions</a:t>
          </a:r>
          <a:r>
            <a:rPr lang="it-IT" dirty="0"/>
            <a:t> and </a:t>
          </a:r>
          <a:r>
            <a:rPr lang="it-IT" dirty="0" err="1"/>
            <a:t>visualize</a:t>
          </a:r>
          <a:r>
            <a:rPr lang="it-IT" dirty="0"/>
            <a:t> non-linear </a:t>
          </a:r>
          <a:r>
            <a:rPr lang="it-IT" dirty="0" err="1"/>
            <a:t>relationships</a:t>
          </a:r>
          <a:r>
            <a:rPr lang="it-IT" dirty="0"/>
            <a:t>. </a:t>
          </a:r>
          <a:r>
            <a:rPr lang="it-IT" dirty="0" err="1"/>
            <a:t>It</a:t>
          </a:r>
          <a:r>
            <a:rPr lang="it-IT" dirty="0"/>
            <a:t> helps highlight </a:t>
          </a:r>
          <a:r>
            <a:rPr lang="it-IT" dirty="0" err="1"/>
            <a:t>percentage</a:t>
          </a:r>
          <a:r>
            <a:rPr lang="it-IT" dirty="0"/>
            <a:t> </a:t>
          </a:r>
          <a:r>
            <a:rPr lang="it-IT" dirty="0" err="1"/>
            <a:t>changes</a:t>
          </a:r>
          <a:r>
            <a:rPr lang="it-IT" dirty="0"/>
            <a:t> </a:t>
          </a:r>
          <a:r>
            <a:rPr lang="it-IT" dirty="0" err="1"/>
            <a:t>rather</a:t>
          </a:r>
          <a:r>
            <a:rPr lang="it-IT" dirty="0"/>
            <a:t> </a:t>
          </a:r>
          <a:r>
            <a:rPr lang="it-IT" dirty="0" err="1"/>
            <a:t>than</a:t>
          </a:r>
          <a:r>
            <a:rPr lang="it-IT" dirty="0"/>
            <a:t> </a:t>
          </a:r>
          <a:r>
            <a:rPr lang="it-IT" dirty="0" err="1"/>
            <a:t>absolute</a:t>
          </a:r>
          <a:r>
            <a:rPr lang="it-IT" dirty="0"/>
            <a:t> </a:t>
          </a:r>
          <a:r>
            <a:rPr lang="it-IT" dirty="0" err="1"/>
            <a:t>differences</a:t>
          </a:r>
          <a:r>
            <a:rPr lang="it-IT" dirty="0"/>
            <a:t>, making patterns like </a:t>
          </a:r>
          <a:r>
            <a:rPr lang="it-IT" dirty="0" err="1"/>
            <a:t>diminishing</a:t>
          </a:r>
          <a:r>
            <a:rPr lang="it-IT" dirty="0"/>
            <a:t> </a:t>
          </a:r>
          <a:r>
            <a:rPr lang="it-IT" dirty="0" err="1"/>
            <a:t>returns</a:t>
          </a:r>
          <a:r>
            <a:rPr lang="it-IT" dirty="0"/>
            <a:t> or </a:t>
          </a:r>
          <a:r>
            <a:rPr lang="it-IT" dirty="0" err="1"/>
            <a:t>exponential</a:t>
          </a:r>
          <a:r>
            <a:rPr lang="it-IT" dirty="0"/>
            <a:t> </a:t>
          </a:r>
          <a:r>
            <a:rPr lang="it-IT" dirty="0" err="1"/>
            <a:t>growth</a:t>
          </a:r>
          <a:r>
            <a:rPr lang="it-IT" dirty="0"/>
            <a:t> </a:t>
          </a:r>
          <a:r>
            <a:rPr lang="it-IT" dirty="0" err="1"/>
            <a:t>easier</a:t>
          </a:r>
          <a:r>
            <a:rPr lang="it-IT" dirty="0"/>
            <a:t> to </a:t>
          </a:r>
          <a:r>
            <a:rPr lang="it-IT" dirty="0" err="1"/>
            <a:t>interpret</a:t>
          </a:r>
          <a:r>
            <a:rPr lang="it-IT" dirty="0"/>
            <a:t>.</a:t>
          </a:r>
          <a:endParaRPr lang="en-US" dirty="0"/>
        </a:p>
      </dgm:t>
    </dgm:pt>
    <dgm:pt modelId="{63DDFEC1-C256-4EAD-92E4-F3169F9D0863}" type="parTrans" cxnId="{CDBD47B8-1C22-4DDE-9102-15947F0BC1CE}">
      <dgm:prSet/>
      <dgm:spPr/>
      <dgm:t>
        <a:bodyPr/>
        <a:lstStyle/>
        <a:p>
          <a:endParaRPr lang="en-US"/>
        </a:p>
      </dgm:t>
    </dgm:pt>
    <dgm:pt modelId="{D1F15AC5-53D9-404A-8153-CFCFEF2DA174}" type="sibTrans" cxnId="{CDBD47B8-1C22-4DDE-9102-15947F0BC1CE}">
      <dgm:prSet/>
      <dgm:spPr/>
      <dgm:t>
        <a:bodyPr/>
        <a:lstStyle/>
        <a:p>
          <a:endParaRPr lang="en-US"/>
        </a:p>
      </dgm:t>
    </dgm:pt>
    <dgm:pt modelId="{81C1473E-0B1D-2B4A-B635-74D90D69B97C}" type="pres">
      <dgm:prSet presAssocID="{27CF42CE-C095-462E-9135-9C76EDCECE3B}" presName="linear" presStyleCnt="0">
        <dgm:presLayoutVars>
          <dgm:animLvl val="lvl"/>
          <dgm:resizeHandles val="exact"/>
        </dgm:presLayoutVars>
      </dgm:prSet>
      <dgm:spPr/>
    </dgm:pt>
    <dgm:pt modelId="{1BB3C4B1-68C1-ED42-BE3F-06BB7ACD316A}" type="pres">
      <dgm:prSet presAssocID="{0E6B222F-DBC5-4BE0-8909-7276DB25193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286BC14-DFEA-3242-9991-36722A7971F5}" type="pres">
      <dgm:prSet presAssocID="{0E6B222F-DBC5-4BE0-8909-7276DB25193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0205101-271F-FB41-98BC-FE15D1D71176}" type="presOf" srcId="{06B205C3-11D5-4BD7-A38E-31D8AFF0FD9C}" destId="{3286BC14-DFEA-3242-9991-36722A7971F5}" srcOrd="0" destOrd="2" presId="urn:microsoft.com/office/officeart/2005/8/layout/vList2"/>
    <dgm:cxn modelId="{1B00D716-B85B-BA4B-893A-2560ACFD3628}" type="presOf" srcId="{C6F6E5A4-4A53-47B0-B070-1E20A75B1051}" destId="{3286BC14-DFEA-3242-9991-36722A7971F5}" srcOrd="0" destOrd="1" presId="urn:microsoft.com/office/officeart/2005/8/layout/vList2"/>
    <dgm:cxn modelId="{4CD5BB19-0503-D145-ACB1-25B19EDBA031}" type="presOf" srcId="{27CF42CE-C095-462E-9135-9C76EDCECE3B}" destId="{81C1473E-0B1D-2B4A-B635-74D90D69B97C}" srcOrd="0" destOrd="0" presId="urn:microsoft.com/office/officeart/2005/8/layout/vList2"/>
    <dgm:cxn modelId="{7673AE2F-87C8-4B62-A5E2-C8BF67F53EE6}" srcId="{27CF42CE-C095-462E-9135-9C76EDCECE3B}" destId="{0E6B222F-DBC5-4BE0-8909-7276DB251931}" srcOrd="0" destOrd="0" parTransId="{065B065C-187A-4E28-AF9C-1A90188BBF22}" sibTransId="{A0A9E076-9426-42CE-AEA5-F998014D85E4}"/>
    <dgm:cxn modelId="{4F667546-5084-CD41-B333-AA4316BA2BB6}" type="presOf" srcId="{5BB5C21B-EC8F-43BA-9293-958950C4378F}" destId="{3286BC14-DFEA-3242-9991-36722A7971F5}" srcOrd="0" destOrd="3" presId="urn:microsoft.com/office/officeart/2005/8/layout/vList2"/>
    <dgm:cxn modelId="{038B2F75-63A4-5543-BF44-C3F74370F21B}" type="presOf" srcId="{E64CE104-2758-43E5-ACD1-89EA51319B82}" destId="{3286BC14-DFEA-3242-9991-36722A7971F5}" srcOrd="0" destOrd="0" presId="urn:microsoft.com/office/officeart/2005/8/layout/vList2"/>
    <dgm:cxn modelId="{6BD3AC88-F29C-4E9A-9214-4B86355E51D3}" srcId="{0E6B222F-DBC5-4BE0-8909-7276DB251931}" destId="{C6F6E5A4-4A53-47B0-B070-1E20A75B1051}" srcOrd="1" destOrd="0" parTransId="{20D48076-2B20-41B2-9347-D16C4E4C322A}" sibTransId="{987C7BFA-4905-4B66-B153-178D05EFA4CB}"/>
    <dgm:cxn modelId="{3DBB458E-3CD0-6B4A-8528-A198A61A7444}" type="presOf" srcId="{B676A556-FFF6-4D55-8D53-46B225EB52AC}" destId="{3286BC14-DFEA-3242-9991-36722A7971F5}" srcOrd="0" destOrd="4" presId="urn:microsoft.com/office/officeart/2005/8/layout/vList2"/>
    <dgm:cxn modelId="{664CB19C-DBB6-48E2-A12E-460156182E1F}" srcId="{0E6B222F-DBC5-4BE0-8909-7276DB251931}" destId="{5BB5C21B-EC8F-43BA-9293-958950C4378F}" srcOrd="3" destOrd="0" parTransId="{0CFA7AB3-B67A-4C13-A6C1-6519FD2C27A0}" sibTransId="{83368404-F397-4A95-A15D-7132ED23F2B3}"/>
    <dgm:cxn modelId="{FDE78CA3-A825-41A8-92D7-6D4829384912}" srcId="{0E6B222F-DBC5-4BE0-8909-7276DB251931}" destId="{E64CE104-2758-43E5-ACD1-89EA51319B82}" srcOrd="0" destOrd="0" parTransId="{7AA84BCE-19BE-4A36-85F2-965029E7A6DD}" sibTransId="{79D8DAFC-6A75-42C1-8906-6EF936137B03}"/>
    <dgm:cxn modelId="{CDBD47B8-1C22-4DDE-9102-15947F0BC1CE}" srcId="{0E6B222F-DBC5-4BE0-8909-7276DB251931}" destId="{B676A556-FFF6-4D55-8D53-46B225EB52AC}" srcOrd="4" destOrd="0" parTransId="{63DDFEC1-C256-4EAD-92E4-F3169F9D0863}" sibTransId="{D1F15AC5-53D9-404A-8153-CFCFEF2DA174}"/>
    <dgm:cxn modelId="{D23B94BA-4357-4A17-84C9-6319CEA5D46D}" srcId="{0E6B222F-DBC5-4BE0-8909-7276DB251931}" destId="{06B205C3-11D5-4BD7-A38E-31D8AFF0FD9C}" srcOrd="2" destOrd="0" parTransId="{37E2EB66-F0F9-495B-A894-FC5517530FCC}" sibTransId="{E0A7ED76-F829-46A5-9588-4E9C4F803BC2}"/>
    <dgm:cxn modelId="{1E5728F0-3D38-BA46-838D-1478157A7532}" type="presOf" srcId="{0E6B222F-DBC5-4BE0-8909-7276DB251931}" destId="{1BB3C4B1-68C1-ED42-BE3F-06BB7ACD316A}" srcOrd="0" destOrd="0" presId="urn:microsoft.com/office/officeart/2005/8/layout/vList2"/>
    <dgm:cxn modelId="{18EE3776-9FB9-E149-85EC-511C891B2110}" type="presParOf" srcId="{81C1473E-0B1D-2B4A-B635-74D90D69B97C}" destId="{1BB3C4B1-68C1-ED42-BE3F-06BB7ACD316A}" srcOrd="0" destOrd="0" presId="urn:microsoft.com/office/officeart/2005/8/layout/vList2"/>
    <dgm:cxn modelId="{D3368306-A499-E14C-8AA3-FC27A5E36440}" type="presParOf" srcId="{81C1473E-0B1D-2B4A-B635-74D90D69B97C}" destId="{3286BC14-DFEA-3242-9991-36722A7971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3C4B1-68C1-ED42-BE3F-06BB7ACD316A}">
      <dsp:nvSpPr>
        <dsp:cNvPr id="0" name=""/>
        <dsp:cNvSpPr/>
      </dsp:nvSpPr>
      <dsp:spPr>
        <a:xfrm>
          <a:off x="0" y="342618"/>
          <a:ext cx="1085662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/>
            <a:t>Summary of Key Terms</a:t>
          </a:r>
          <a:endParaRPr lang="en-US" sz="2800" kern="1200"/>
        </a:p>
      </dsp:txBody>
      <dsp:txXfrm>
        <a:off x="32784" y="375402"/>
        <a:ext cx="10791056" cy="606012"/>
      </dsp:txXfrm>
    </dsp:sp>
    <dsp:sp modelId="{3286BC14-DFEA-3242-9991-36722A7971F5}">
      <dsp:nvSpPr>
        <dsp:cNvPr id="0" name=""/>
        <dsp:cNvSpPr/>
      </dsp:nvSpPr>
      <dsp:spPr>
        <a:xfrm>
          <a:off x="0" y="1014198"/>
          <a:ext cx="10856624" cy="3825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69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 dirty="0"/>
            <a:t>PPP (</a:t>
          </a:r>
          <a:r>
            <a:rPr lang="it-IT" sz="2200" b="1" kern="1200" dirty="0" err="1"/>
            <a:t>Purchasing</a:t>
          </a:r>
          <a:r>
            <a:rPr lang="it-IT" sz="2200" b="1" kern="1200" dirty="0"/>
            <a:t> Power </a:t>
          </a:r>
          <a:r>
            <a:rPr lang="it-IT" sz="2200" b="1" kern="1200" dirty="0" err="1"/>
            <a:t>Parity</a:t>
          </a:r>
          <a:r>
            <a:rPr lang="it-IT" sz="2200" b="1" kern="1200" dirty="0"/>
            <a:t>):</a:t>
          </a:r>
          <a:r>
            <a:rPr lang="it-IT" sz="2200" kern="1200" dirty="0"/>
            <a:t> PPP stands for </a:t>
          </a:r>
          <a:r>
            <a:rPr lang="it-IT" sz="2200" kern="1200" dirty="0" err="1"/>
            <a:t>Purchasing</a:t>
          </a:r>
          <a:r>
            <a:rPr lang="it-IT" sz="2200" kern="1200" dirty="0"/>
            <a:t> Power </a:t>
          </a:r>
          <a:r>
            <a:rPr lang="it-IT" sz="2200" kern="1200" dirty="0" err="1"/>
            <a:t>Parity</a:t>
          </a:r>
          <a:r>
            <a:rPr lang="it-IT" sz="2200" kern="1200" dirty="0"/>
            <a:t>. </a:t>
          </a:r>
          <a:r>
            <a:rPr lang="it-IT" sz="2200" kern="1200" dirty="0" err="1"/>
            <a:t>It</a:t>
          </a:r>
          <a:r>
            <a:rPr lang="it-IT" sz="2200" kern="1200" dirty="0"/>
            <a:t> </a:t>
          </a:r>
          <a:r>
            <a:rPr lang="it-IT" sz="2200" kern="1200" dirty="0" err="1"/>
            <a:t>reflects</a:t>
          </a:r>
          <a:r>
            <a:rPr lang="it-IT" sz="2200" kern="1200" dirty="0"/>
            <a:t> </a:t>
          </a:r>
          <a:r>
            <a:rPr lang="it-IT" sz="2200" kern="1200" dirty="0" err="1"/>
            <a:t>how</a:t>
          </a:r>
          <a:r>
            <a:rPr lang="it-IT" sz="2200" kern="1200" dirty="0"/>
            <a:t> </a:t>
          </a:r>
          <a:r>
            <a:rPr lang="it-IT" sz="2200" kern="1200" dirty="0" err="1"/>
            <a:t>much</a:t>
          </a:r>
          <a:r>
            <a:rPr lang="it-IT" sz="2200" kern="1200" dirty="0"/>
            <a:t> a </a:t>
          </a:r>
          <a:r>
            <a:rPr lang="it-IT" sz="2200" kern="1200" dirty="0" err="1"/>
            <a:t>unit</a:t>
          </a:r>
          <a:r>
            <a:rPr lang="it-IT" sz="2200" kern="1200" dirty="0"/>
            <a:t> of </a:t>
          </a:r>
          <a:r>
            <a:rPr lang="it-IT" sz="2200" kern="1200" dirty="0" err="1"/>
            <a:t>currency</a:t>
          </a:r>
          <a:r>
            <a:rPr lang="it-IT" sz="2200" kern="1200" dirty="0"/>
            <a:t> can </a:t>
          </a:r>
          <a:r>
            <a:rPr lang="it-IT" sz="2200" kern="1200" dirty="0" err="1"/>
            <a:t>buy</a:t>
          </a:r>
          <a:r>
            <a:rPr lang="it-IT" sz="2200" kern="1200" dirty="0"/>
            <a:t> in </a:t>
          </a:r>
          <a:r>
            <a:rPr lang="it-IT" sz="2200" kern="1200" dirty="0" err="1"/>
            <a:t>terms</a:t>
          </a:r>
          <a:r>
            <a:rPr lang="it-IT" sz="2200" kern="1200" dirty="0"/>
            <a:t> of </a:t>
          </a:r>
          <a:r>
            <a:rPr lang="it-IT" sz="2200" kern="1200" dirty="0" err="1"/>
            <a:t>goods</a:t>
          </a:r>
          <a:r>
            <a:rPr lang="it-IT" sz="2200" kern="1200" dirty="0"/>
            <a:t> and services </a:t>
          </a:r>
          <a:r>
            <a:rPr lang="it-IT" sz="2200" kern="1200" dirty="0" err="1"/>
            <a:t>within</a:t>
          </a:r>
          <a:r>
            <a:rPr lang="it-IT" sz="2200" kern="1200" dirty="0"/>
            <a:t> a country. </a:t>
          </a:r>
          <a:r>
            <a:rPr lang="it-IT" sz="2200" kern="1200" dirty="0" err="1"/>
            <a:t>This</a:t>
          </a:r>
          <a:r>
            <a:rPr lang="it-IT" sz="2200" kern="1200" dirty="0"/>
            <a:t> </a:t>
          </a:r>
          <a:r>
            <a:rPr lang="it-IT" sz="2200" kern="1200" dirty="0" err="1"/>
            <a:t>adjustment</a:t>
          </a:r>
          <a:r>
            <a:rPr lang="it-IT" sz="2200" kern="1200" dirty="0"/>
            <a:t> </a:t>
          </a:r>
          <a:r>
            <a:rPr lang="it-IT" sz="2200" kern="1200" dirty="0" err="1"/>
            <a:t>allows</a:t>
          </a:r>
          <a:r>
            <a:rPr lang="it-IT" sz="2200" kern="1200" dirty="0"/>
            <a:t> for </a:t>
          </a:r>
          <a:r>
            <a:rPr lang="it-IT" sz="2200" kern="1200" dirty="0" err="1"/>
            <a:t>meaningful</a:t>
          </a:r>
          <a:r>
            <a:rPr lang="it-IT" sz="2200" kern="1200" dirty="0"/>
            <a:t> </a:t>
          </a:r>
          <a:r>
            <a:rPr lang="it-IT" sz="2200" kern="1200" dirty="0" err="1"/>
            <a:t>comparisons</a:t>
          </a:r>
          <a:r>
            <a:rPr lang="it-IT" sz="2200" kern="1200" dirty="0"/>
            <a:t> of </a:t>
          </a:r>
          <a:r>
            <a:rPr lang="it-IT" sz="2200" kern="1200" dirty="0" err="1"/>
            <a:t>income</a:t>
          </a:r>
          <a:r>
            <a:rPr lang="it-IT" sz="2200" kern="1200" dirty="0"/>
            <a:t> and </a:t>
          </a:r>
          <a:r>
            <a:rPr lang="it-IT" sz="2200" kern="1200" dirty="0" err="1"/>
            <a:t>expenditure</a:t>
          </a:r>
          <a:r>
            <a:rPr lang="it-IT" sz="2200" kern="1200" dirty="0"/>
            <a:t> </a:t>
          </a:r>
          <a:r>
            <a:rPr lang="it-IT" sz="2200" kern="1200" dirty="0" err="1"/>
            <a:t>across</a:t>
          </a:r>
          <a:r>
            <a:rPr lang="it-IT" sz="2200" kern="1200" dirty="0"/>
            <a:t> countries by accounting for </a:t>
          </a:r>
          <a:r>
            <a:rPr lang="it-IT" sz="2200" kern="1200" dirty="0" err="1"/>
            <a:t>differences</a:t>
          </a:r>
          <a:r>
            <a:rPr lang="it-IT" sz="2200" kern="1200" dirty="0"/>
            <a:t> in </a:t>
          </a:r>
          <a:r>
            <a:rPr lang="it-IT" sz="2200" kern="1200" dirty="0" err="1"/>
            <a:t>local</a:t>
          </a:r>
          <a:r>
            <a:rPr lang="it-IT" sz="2200" kern="1200" dirty="0"/>
            <a:t> price </a:t>
          </a:r>
          <a:r>
            <a:rPr lang="it-IT" sz="2200" kern="1200" dirty="0" err="1"/>
            <a:t>levels</a:t>
          </a:r>
          <a:r>
            <a:rPr lang="it-IT" sz="2200" kern="1200" dirty="0"/>
            <a:t> and cost of living.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EU15:</a:t>
          </a:r>
          <a:r>
            <a:rPr lang="it-IT" sz="2200" kern="1200"/>
            <a:t> The 15 countries in the European Union before the 2004 enlargement.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EU28:</a:t>
          </a:r>
          <a:r>
            <a:rPr lang="it-IT" sz="2200" kern="1200"/>
            <a:t> All EU countries prior to the UK leaving the EU.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/>
            <a:t>EFTA:</a:t>
          </a:r>
          <a:r>
            <a:rPr lang="it-IT" sz="2200" kern="1200"/>
            <a:t> Non-EU countries in the European single market (Iceland, Norway, Switzerland).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200" b="1" kern="1200" dirty="0"/>
            <a:t>Log (ln) scale:</a:t>
          </a:r>
          <a:r>
            <a:rPr lang="it-IT" sz="2200" kern="1200" dirty="0"/>
            <a:t> A </a:t>
          </a:r>
          <a:r>
            <a:rPr lang="it-IT" sz="2200" kern="1200" dirty="0" err="1"/>
            <a:t>logarithmic</a:t>
          </a:r>
          <a:r>
            <a:rPr lang="it-IT" sz="2200" kern="1200" dirty="0"/>
            <a:t> (</a:t>
          </a:r>
          <a:r>
            <a:rPr lang="it-IT" sz="2200" kern="1200" dirty="0" err="1"/>
            <a:t>natural</a:t>
          </a:r>
          <a:r>
            <a:rPr lang="it-IT" sz="2200" kern="1200" dirty="0"/>
            <a:t> log) scale </a:t>
          </a:r>
          <a:r>
            <a:rPr lang="it-IT" sz="2200" kern="1200" dirty="0" err="1"/>
            <a:t>is</a:t>
          </a:r>
          <a:r>
            <a:rPr lang="it-IT" sz="2200" kern="1200" dirty="0"/>
            <a:t> </a:t>
          </a:r>
          <a:r>
            <a:rPr lang="it-IT" sz="2200" kern="1200" dirty="0" err="1"/>
            <a:t>used</a:t>
          </a:r>
          <a:r>
            <a:rPr lang="it-IT" sz="2200" kern="1200" dirty="0"/>
            <a:t> to </a:t>
          </a:r>
          <a:r>
            <a:rPr lang="it-IT" sz="2200" kern="1200" dirty="0" err="1"/>
            <a:t>manage</a:t>
          </a:r>
          <a:r>
            <a:rPr lang="it-IT" sz="2200" kern="1200" dirty="0"/>
            <a:t> </a:t>
          </a:r>
          <a:r>
            <a:rPr lang="it-IT" sz="2200" kern="1200" dirty="0" err="1"/>
            <a:t>skewed</a:t>
          </a:r>
          <a:r>
            <a:rPr lang="it-IT" sz="2200" kern="1200" dirty="0"/>
            <a:t> </a:t>
          </a:r>
          <a:r>
            <a:rPr lang="it-IT" sz="2200" kern="1200" dirty="0" err="1"/>
            <a:t>distributions</a:t>
          </a:r>
          <a:r>
            <a:rPr lang="it-IT" sz="2200" kern="1200" dirty="0"/>
            <a:t> and </a:t>
          </a:r>
          <a:r>
            <a:rPr lang="it-IT" sz="2200" kern="1200" dirty="0" err="1"/>
            <a:t>visualize</a:t>
          </a:r>
          <a:r>
            <a:rPr lang="it-IT" sz="2200" kern="1200" dirty="0"/>
            <a:t> non-linear </a:t>
          </a:r>
          <a:r>
            <a:rPr lang="it-IT" sz="2200" kern="1200" dirty="0" err="1"/>
            <a:t>relationships</a:t>
          </a:r>
          <a:r>
            <a:rPr lang="it-IT" sz="2200" kern="1200" dirty="0"/>
            <a:t>. </a:t>
          </a:r>
          <a:r>
            <a:rPr lang="it-IT" sz="2200" kern="1200" dirty="0" err="1"/>
            <a:t>It</a:t>
          </a:r>
          <a:r>
            <a:rPr lang="it-IT" sz="2200" kern="1200" dirty="0"/>
            <a:t> helps highlight </a:t>
          </a:r>
          <a:r>
            <a:rPr lang="it-IT" sz="2200" kern="1200" dirty="0" err="1"/>
            <a:t>percentage</a:t>
          </a:r>
          <a:r>
            <a:rPr lang="it-IT" sz="2200" kern="1200" dirty="0"/>
            <a:t> </a:t>
          </a:r>
          <a:r>
            <a:rPr lang="it-IT" sz="2200" kern="1200" dirty="0" err="1"/>
            <a:t>changes</a:t>
          </a:r>
          <a:r>
            <a:rPr lang="it-IT" sz="2200" kern="1200" dirty="0"/>
            <a:t> </a:t>
          </a:r>
          <a:r>
            <a:rPr lang="it-IT" sz="2200" kern="1200" dirty="0" err="1"/>
            <a:t>rather</a:t>
          </a:r>
          <a:r>
            <a:rPr lang="it-IT" sz="2200" kern="1200" dirty="0"/>
            <a:t> </a:t>
          </a:r>
          <a:r>
            <a:rPr lang="it-IT" sz="2200" kern="1200" dirty="0" err="1"/>
            <a:t>than</a:t>
          </a:r>
          <a:r>
            <a:rPr lang="it-IT" sz="2200" kern="1200" dirty="0"/>
            <a:t> </a:t>
          </a:r>
          <a:r>
            <a:rPr lang="it-IT" sz="2200" kern="1200" dirty="0" err="1"/>
            <a:t>absolute</a:t>
          </a:r>
          <a:r>
            <a:rPr lang="it-IT" sz="2200" kern="1200" dirty="0"/>
            <a:t> </a:t>
          </a:r>
          <a:r>
            <a:rPr lang="it-IT" sz="2200" kern="1200" dirty="0" err="1"/>
            <a:t>differences</a:t>
          </a:r>
          <a:r>
            <a:rPr lang="it-IT" sz="2200" kern="1200" dirty="0"/>
            <a:t>, making patterns like </a:t>
          </a:r>
          <a:r>
            <a:rPr lang="it-IT" sz="2200" kern="1200" dirty="0" err="1"/>
            <a:t>diminishing</a:t>
          </a:r>
          <a:r>
            <a:rPr lang="it-IT" sz="2200" kern="1200" dirty="0"/>
            <a:t> </a:t>
          </a:r>
          <a:r>
            <a:rPr lang="it-IT" sz="2200" kern="1200" dirty="0" err="1"/>
            <a:t>returns</a:t>
          </a:r>
          <a:r>
            <a:rPr lang="it-IT" sz="2200" kern="1200" dirty="0"/>
            <a:t> or </a:t>
          </a:r>
          <a:r>
            <a:rPr lang="it-IT" sz="2200" kern="1200" dirty="0" err="1"/>
            <a:t>exponential</a:t>
          </a:r>
          <a:r>
            <a:rPr lang="it-IT" sz="2200" kern="1200" dirty="0"/>
            <a:t> </a:t>
          </a:r>
          <a:r>
            <a:rPr lang="it-IT" sz="2200" kern="1200" dirty="0" err="1"/>
            <a:t>growth</a:t>
          </a:r>
          <a:r>
            <a:rPr lang="it-IT" sz="2200" kern="1200" dirty="0"/>
            <a:t> </a:t>
          </a:r>
          <a:r>
            <a:rPr lang="it-IT" sz="2200" kern="1200" dirty="0" err="1"/>
            <a:t>easier</a:t>
          </a:r>
          <a:r>
            <a:rPr lang="it-IT" sz="2200" kern="1200" dirty="0"/>
            <a:t> to </a:t>
          </a:r>
          <a:r>
            <a:rPr lang="it-IT" sz="2200" kern="1200" dirty="0" err="1"/>
            <a:t>interpret</a:t>
          </a:r>
          <a:r>
            <a:rPr lang="it-IT" sz="2200" kern="1200" dirty="0"/>
            <a:t>.</a:t>
          </a:r>
          <a:endParaRPr lang="en-US" sz="2200" kern="1200" dirty="0"/>
        </a:p>
      </dsp:txBody>
      <dsp:txXfrm>
        <a:off x="0" y="1014198"/>
        <a:ext cx="10856624" cy="3825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CA38F-DA68-5447-A001-04EEB804DF2C}" type="datetimeFigureOut">
              <a:rPr lang="it-IT" smtClean="0"/>
              <a:t>07/09/25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AAECE-B433-1841-BC42-123935BEB2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983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tx1"/>
                </a:solidFill>
              </a:rPr>
              <a:t>This study investigates the interplay between health expenditure per capita, life expectancy, and GDP per capita across European countries and the United States, both in cross-sectional and longitudinal perspectives. It reveals significant disparities in levels, spending priorities, and health outcomes — particularly in the case of the United States.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AAECE-B433-1841-BC42-123935BEB2C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773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Country ISO</a:t>
            </a:r>
          </a:p>
          <a:p>
            <a:r>
              <a:rPr lang="it-IT" dirty="0"/>
              <a:t>AUT → Austria, BEL → </a:t>
            </a:r>
            <a:r>
              <a:rPr lang="it-IT" dirty="0" err="1"/>
              <a:t>Belgium</a:t>
            </a:r>
            <a:r>
              <a:rPr lang="it-IT" dirty="0"/>
              <a:t>, BGR → Bulgaria, CHE → </a:t>
            </a:r>
            <a:r>
              <a:rPr lang="it-IT" dirty="0" err="1"/>
              <a:t>Switzerland</a:t>
            </a:r>
            <a:r>
              <a:rPr lang="it-IT" dirty="0"/>
              <a:t>, CYP → Cyprus, CZE → </a:t>
            </a:r>
            <a:r>
              <a:rPr lang="it-IT" dirty="0" err="1"/>
              <a:t>Czechia</a:t>
            </a:r>
            <a:r>
              <a:rPr lang="it-IT" dirty="0"/>
              <a:t>, DEU → Germany, DNK → </a:t>
            </a:r>
            <a:r>
              <a:rPr lang="it-IT" dirty="0" err="1"/>
              <a:t>Denmark</a:t>
            </a:r>
            <a:r>
              <a:rPr lang="it-IT" dirty="0"/>
              <a:t>, ESP → </a:t>
            </a:r>
            <a:r>
              <a:rPr lang="it-IT" dirty="0" err="1"/>
              <a:t>Spain</a:t>
            </a:r>
            <a:r>
              <a:rPr lang="it-IT" dirty="0"/>
              <a:t>, EST → Estonia, FIN → </a:t>
            </a:r>
            <a:r>
              <a:rPr lang="it-IT" dirty="0" err="1"/>
              <a:t>Finland</a:t>
            </a:r>
            <a:r>
              <a:rPr lang="it-IT" dirty="0"/>
              <a:t>, FRA → France, GBR → United Kingdom, GRC → </a:t>
            </a:r>
            <a:r>
              <a:rPr lang="it-IT" dirty="0" err="1"/>
              <a:t>Greece</a:t>
            </a:r>
            <a:r>
              <a:rPr lang="it-IT" dirty="0"/>
              <a:t>, HRV → </a:t>
            </a:r>
            <a:r>
              <a:rPr lang="it-IT" dirty="0" err="1"/>
              <a:t>Croatia</a:t>
            </a:r>
            <a:r>
              <a:rPr lang="it-IT" dirty="0"/>
              <a:t>, HUN → </a:t>
            </a:r>
            <a:r>
              <a:rPr lang="it-IT" dirty="0" err="1"/>
              <a:t>Hungary</a:t>
            </a:r>
            <a:r>
              <a:rPr lang="it-IT" dirty="0"/>
              <a:t>, IRL → </a:t>
            </a:r>
            <a:r>
              <a:rPr lang="it-IT" dirty="0" err="1"/>
              <a:t>Ireland</a:t>
            </a:r>
            <a:r>
              <a:rPr lang="it-IT" dirty="0"/>
              <a:t>, ISL → Iceland, ITA → </a:t>
            </a:r>
            <a:r>
              <a:rPr lang="it-IT" dirty="0" err="1"/>
              <a:t>Italy</a:t>
            </a:r>
            <a:r>
              <a:rPr lang="it-IT" dirty="0"/>
              <a:t>, LTU → Lithuania, LUX → Luxembourg, LVA → Latvia, NLD → Netherlands, NOR → </a:t>
            </a:r>
            <a:r>
              <a:rPr lang="it-IT" dirty="0" err="1"/>
              <a:t>Norway</a:t>
            </a:r>
            <a:r>
              <a:rPr lang="it-IT" dirty="0"/>
              <a:t>, POL → Poland, PRT → Portugal, ROU → Romania, SVK → </a:t>
            </a:r>
            <a:r>
              <a:rPr lang="it-IT" dirty="0" err="1"/>
              <a:t>Slovakia</a:t>
            </a:r>
            <a:r>
              <a:rPr lang="it-IT" dirty="0"/>
              <a:t>, SVN → Slovenia, SWE → </a:t>
            </a:r>
            <a:r>
              <a:rPr lang="it-IT" dirty="0" err="1"/>
              <a:t>Sweden</a:t>
            </a:r>
            <a:r>
              <a:rPr lang="it-IT" dirty="0"/>
              <a:t>, USA → United States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AAECE-B433-1841-BC42-123935BEB2C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697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b="1" dirty="0"/>
              <a:t>Health Expenditure</a:t>
            </a:r>
            <a:r>
              <a:rPr lang="it-IT" b="1" dirty="0"/>
              <a:t> per Capita</a:t>
            </a:r>
            <a:r>
              <a:rPr b="1" dirty="0"/>
              <a:t> </a:t>
            </a:r>
            <a:r>
              <a:rPr lang="it-IT" b="1" dirty="0"/>
              <a:t>and</a:t>
            </a:r>
            <a:r>
              <a:rPr b="1" dirty="0"/>
              <a:t> </a:t>
            </a:r>
            <a:r>
              <a:rPr b="1" dirty="0" err="1"/>
              <a:t>LIfe</a:t>
            </a:r>
            <a:r>
              <a:rPr b="1" dirty="0"/>
              <a:t> Expectancy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scatter</a:t>
            </a:r>
            <a:r>
              <a:rPr lang="it-IT" dirty="0"/>
              <a:t> plot shows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health </a:t>
            </a:r>
            <a:r>
              <a:rPr lang="it-IT" dirty="0" err="1"/>
              <a:t>expenditure</a:t>
            </a:r>
            <a:r>
              <a:rPr lang="it-IT" dirty="0"/>
              <a:t> per capita (PPP-</a:t>
            </a:r>
            <a:r>
              <a:rPr lang="it-IT" dirty="0" err="1"/>
              <a:t>adjusted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Europe and the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Despite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health spending, the US </a:t>
            </a:r>
            <a:r>
              <a:rPr lang="it-IT" dirty="0" err="1"/>
              <a:t>achieves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peer countries of Western Europe.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European</a:t>
            </a:r>
            <a:r>
              <a:rPr lang="it-IT" dirty="0"/>
              <a:t> countries cluster in a zone of moderate or high spending and high </a:t>
            </a:r>
            <a:r>
              <a:rPr lang="it-IT" dirty="0" err="1"/>
              <a:t>outcomes</a:t>
            </a:r>
            <a:r>
              <a:rPr lang="it-IT" dirty="0"/>
              <a:t>, </a:t>
            </a:r>
            <a:r>
              <a:rPr lang="it-IT" dirty="0" err="1"/>
              <a:t>suggesting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beyond</a:t>
            </a:r>
            <a:r>
              <a:rPr lang="it-IT" dirty="0"/>
              <a:t> a </a:t>
            </a:r>
            <a:r>
              <a:rPr lang="it-IT" dirty="0" err="1"/>
              <a:t>certain</a:t>
            </a:r>
            <a:r>
              <a:rPr lang="it-IT" dirty="0"/>
              <a:t> point, </a:t>
            </a:r>
            <a:r>
              <a:rPr lang="it-IT" dirty="0" err="1"/>
              <a:t>additional</a:t>
            </a:r>
            <a:r>
              <a:rPr lang="it-IT" dirty="0"/>
              <a:t> spending </a:t>
            </a:r>
            <a:r>
              <a:rPr lang="it-IT" dirty="0" err="1"/>
              <a:t>has</a:t>
            </a:r>
            <a:r>
              <a:rPr lang="it-IT" dirty="0"/>
              <a:t> limited </a:t>
            </a:r>
            <a:r>
              <a:rPr lang="it-IT" dirty="0" err="1"/>
              <a:t>effect</a:t>
            </a:r>
            <a:r>
              <a:rPr lang="it-IT" dirty="0"/>
              <a:t> on life </a:t>
            </a:r>
            <a:r>
              <a:rPr lang="it-IT" dirty="0" err="1"/>
              <a:t>expectancy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0,66 (Moderate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5,4136x + 34,072; R² (coefficient of determination) = 0,43 (Moderate explanatory power)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b="1" dirty="0"/>
              <a:t>GDP </a:t>
            </a:r>
            <a:r>
              <a:rPr lang="it-IT" b="1" dirty="0"/>
              <a:t>per Capita and</a:t>
            </a:r>
            <a:r>
              <a:rPr b="1" dirty="0"/>
              <a:t> Health Expenditure</a:t>
            </a:r>
            <a:r>
              <a:rPr lang="it-IT" b="1" dirty="0"/>
              <a:t> per Capita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plots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of GDP per capita (PPP) </a:t>
            </a:r>
            <a:r>
              <a:rPr lang="it-IT" dirty="0" err="1"/>
              <a:t>against</a:t>
            </a:r>
            <a:r>
              <a:rPr lang="it-IT" dirty="0"/>
              <a:t> the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logarithm</a:t>
            </a:r>
            <a:r>
              <a:rPr lang="it-IT" dirty="0"/>
              <a:t> (ln) of health </a:t>
            </a:r>
            <a:r>
              <a:rPr lang="it-IT" dirty="0" err="1"/>
              <a:t>expenditure</a:t>
            </a:r>
            <a:r>
              <a:rPr lang="it-IT" dirty="0"/>
              <a:t> per capita (PPP) </a:t>
            </a:r>
            <a:r>
              <a:rPr lang="it-IT" dirty="0" err="1"/>
              <a:t>across</a:t>
            </a:r>
            <a:r>
              <a:rPr lang="it-IT" dirty="0"/>
              <a:t> Europe and the US in 2021 to </a:t>
            </a:r>
            <a:r>
              <a:rPr lang="it-IT" dirty="0" err="1"/>
              <a:t>explore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 relate to health spending.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strong positive </a:t>
            </a:r>
            <a:r>
              <a:rPr lang="it-IT" dirty="0" err="1"/>
              <a:t>association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national </a:t>
            </a:r>
            <a:r>
              <a:rPr lang="it-IT" dirty="0" err="1"/>
              <a:t>income</a:t>
            </a:r>
            <a:r>
              <a:rPr lang="it-IT" dirty="0"/>
              <a:t> (or GDP) and health </a:t>
            </a:r>
            <a:r>
              <a:rPr lang="it-IT" dirty="0" err="1"/>
              <a:t>expenditure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US stands out </a:t>
            </a:r>
            <a:r>
              <a:rPr lang="it-IT" dirty="0" err="1"/>
              <a:t>as</a:t>
            </a:r>
            <a:r>
              <a:rPr lang="it-IT" dirty="0"/>
              <a:t> a clear </a:t>
            </a:r>
            <a:r>
              <a:rPr lang="it-IT" dirty="0" err="1"/>
              <a:t>outlier</a:t>
            </a:r>
            <a:r>
              <a:rPr lang="it-IT" dirty="0"/>
              <a:t>, spending </a:t>
            </a:r>
            <a:r>
              <a:rPr lang="it-IT" dirty="0" err="1"/>
              <a:t>significantly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countries with </a:t>
            </a:r>
            <a:r>
              <a:rPr lang="it-IT" dirty="0" err="1"/>
              <a:t>similar</a:t>
            </a:r>
            <a:r>
              <a:rPr lang="it-IT" dirty="0"/>
              <a:t> or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per capita </a:t>
            </a:r>
            <a:r>
              <a:rPr lang="it-IT" dirty="0" err="1"/>
              <a:t>income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0,92 (</a:t>
            </a:r>
            <a:r>
              <a:rPr lang="it-IT" dirty="0" err="1"/>
              <a:t>Very</a:t>
            </a:r>
            <a:r>
              <a:rPr lang="it-IT" dirty="0"/>
              <a:t> 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1,4194x - 6,8936; R² (coefficient of determination)= 0,84 (Very strong explanatory power)</a:t>
            </a:r>
            <a:endParaRPr lang="en-US" dirty="0"/>
          </a:p>
          <a:p>
            <a:endParaRPr lang="it-IT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GDP per Capita and Health </a:t>
            </a:r>
            <a:r>
              <a:rPr lang="it-IT" b="1" dirty="0" err="1"/>
              <a:t>Expenditure</a:t>
            </a:r>
            <a:r>
              <a:rPr lang="it-IT" b="1" dirty="0"/>
              <a:t> (% of GDP)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plot shows the share of GDP </a:t>
            </a:r>
            <a:r>
              <a:rPr lang="it-IT" dirty="0" err="1"/>
              <a:t>allocated</a:t>
            </a:r>
            <a:r>
              <a:rPr lang="it-IT" dirty="0"/>
              <a:t> to health spending versus GDP per capita (PPP), </a:t>
            </a:r>
            <a:r>
              <a:rPr lang="it-IT" dirty="0" err="1"/>
              <a:t>using</a:t>
            </a:r>
            <a:r>
              <a:rPr lang="it-IT" dirty="0"/>
              <a:t> a log-linear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Europe and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/>
              <a:t>Not </a:t>
            </a:r>
            <a:r>
              <a:rPr lang="it-IT" dirty="0" err="1"/>
              <a:t>only</a:t>
            </a:r>
            <a:r>
              <a:rPr lang="it-IT" dirty="0"/>
              <a:t> the US </a:t>
            </a:r>
            <a:r>
              <a:rPr lang="it-IT" dirty="0" err="1"/>
              <a:t>spends</a:t>
            </a:r>
            <a:r>
              <a:rPr lang="it-IT" dirty="0"/>
              <a:t> the </a:t>
            </a:r>
            <a:r>
              <a:rPr lang="it-IT" dirty="0" err="1"/>
              <a:t>most</a:t>
            </a:r>
            <a:r>
              <a:rPr lang="it-IT" dirty="0"/>
              <a:t> in </a:t>
            </a:r>
            <a:r>
              <a:rPr lang="it-IT" dirty="0" err="1"/>
              <a:t>absolute</a:t>
            </a:r>
            <a:r>
              <a:rPr lang="it-IT" dirty="0"/>
              <a:t> </a:t>
            </a:r>
            <a:r>
              <a:rPr lang="it-IT" dirty="0" err="1"/>
              <a:t>terms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allocates</a:t>
            </a:r>
            <a:r>
              <a:rPr lang="it-IT" dirty="0"/>
              <a:t> a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share of </a:t>
            </a:r>
            <a:r>
              <a:rPr lang="it-IT" dirty="0" err="1"/>
              <a:t>its</a:t>
            </a:r>
            <a:r>
              <a:rPr lang="it-IT" dirty="0"/>
              <a:t> GDP to health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high-</a:t>
            </a:r>
            <a:r>
              <a:rPr lang="it-IT" dirty="0" err="1"/>
              <a:t>income</a:t>
            </a:r>
            <a:r>
              <a:rPr lang="it-IT" dirty="0"/>
              <a:t> countries, </a:t>
            </a:r>
            <a:r>
              <a:rPr lang="it-IT" dirty="0" err="1"/>
              <a:t>raising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. </a:t>
            </a:r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more </a:t>
            </a:r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in 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relationship</a:t>
            </a:r>
            <a:r>
              <a:rPr lang="it-IT" dirty="0"/>
              <a:t> (health spending per capita vs. GDP per capita),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European</a:t>
            </a:r>
            <a:r>
              <a:rPr lang="it-IT" dirty="0"/>
              <a:t> countries </a:t>
            </a:r>
            <a:r>
              <a:rPr lang="it-IT" dirty="0" err="1"/>
              <a:t>remain</a:t>
            </a:r>
            <a:r>
              <a:rPr lang="it-IT" dirty="0"/>
              <a:t> </a:t>
            </a:r>
            <a:r>
              <a:rPr lang="it-IT" dirty="0" err="1"/>
              <a:t>broadly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with </a:t>
            </a:r>
            <a:r>
              <a:rPr lang="it-IT" dirty="0" err="1"/>
              <a:t>expected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b="1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: 0,54 (Moderate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: </a:t>
            </a:r>
            <a:r>
              <a:rPr lang="en-US" baseline="0" dirty="0"/>
              <a:t>y = 0,0419x - 0,3566; R² (coefficient of determination)= 0,29 (Moderate explanatory power)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Correlation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Health </a:t>
            </a:r>
            <a:r>
              <a:rPr lang="it-IT" b="1" dirty="0" err="1"/>
              <a:t>Expenditure</a:t>
            </a:r>
            <a:r>
              <a:rPr lang="it-IT" b="1" dirty="0"/>
              <a:t> per Capita and Life </a:t>
            </a:r>
            <a:r>
              <a:rPr lang="it-IT" b="1" dirty="0" err="1"/>
              <a:t>Expectancy</a:t>
            </a:r>
            <a:r>
              <a:rPr lang="it-IT" b="1" dirty="0"/>
              <a:t> Over Time</a:t>
            </a:r>
          </a:p>
          <a:p>
            <a:r>
              <a:rPr lang="it-IT" dirty="0" err="1"/>
              <a:t>This</a:t>
            </a:r>
            <a:r>
              <a:rPr lang="it-IT" dirty="0"/>
              <a:t> chart </a:t>
            </a:r>
            <a:r>
              <a:rPr lang="it-IT" dirty="0" err="1"/>
              <a:t>illustrates</a:t>
            </a:r>
            <a:r>
              <a:rPr lang="it-IT" dirty="0"/>
              <a:t> the </a:t>
            </a:r>
            <a:r>
              <a:rPr lang="it-IT" dirty="0" err="1"/>
              <a:t>evolution</a:t>
            </a:r>
            <a:r>
              <a:rPr lang="it-IT" dirty="0"/>
              <a:t> of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health </a:t>
            </a:r>
            <a:r>
              <a:rPr lang="it-IT" dirty="0" err="1"/>
              <a:t>expenditure</a:t>
            </a:r>
            <a:r>
              <a:rPr lang="it-IT" dirty="0"/>
              <a:t> per capita (in PPP international </a:t>
            </a:r>
            <a:r>
              <a:rPr lang="it-IT" dirty="0" err="1"/>
              <a:t>dollars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for the US and EU15 countries from 1980 to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health spending over time, the EU15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</a:t>
            </a:r>
            <a:r>
              <a:rPr lang="it-IT" dirty="0" err="1"/>
              <a:t>improvements</a:t>
            </a:r>
            <a:r>
              <a:rPr lang="it-IT" dirty="0"/>
              <a:t> in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expenditure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growing</a:t>
            </a:r>
            <a:r>
              <a:rPr lang="it-IT" dirty="0"/>
              <a:t> </a:t>
            </a:r>
            <a:r>
              <a:rPr lang="it-IT" dirty="0" err="1"/>
              <a:t>divergence</a:t>
            </a:r>
            <a:r>
              <a:rPr lang="it-IT" dirty="0"/>
              <a:t> highlights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issues</a:t>
            </a:r>
            <a:r>
              <a:rPr lang="it-IT" dirty="0"/>
              <a:t> in the US </a:t>
            </a:r>
            <a:r>
              <a:rPr lang="it-IT" dirty="0" err="1"/>
              <a:t>healthcare</a:t>
            </a:r>
            <a:r>
              <a:rPr lang="it-IT" dirty="0"/>
              <a:t> system—</a:t>
            </a:r>
            <a:r>
              <a:rPr lang="it-IT" dirty="0" err="1"/>
              <a:t>particularly</a:t>
            </a:r>
            <a:r>
              <a:rPr lang="it-IT" dirty="0"/>
              <a:t> after 2000—</a:t>
            </a:r>
            <a:r>
              <a:rPr lang="it-IT" dirty="0" err="1"/>
              <a:t>especially</a:t>
            </a:r>
            <a:r>
              <a:rPr lang="it-IT" dirty="0"/>
              <a:t>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in 1980, the US and Western Europe </a:t>
            </a:r>
            <a:r>
              <a:rPr lang="it-IT" dirty="0" err="1"/>
              <a:t>started</a:t>
            </a:r>
            <a:r>
              <a:rPr lang="it-IT" dirty="0"/>
              <a:t> from comparable </a:t>
            </a:r>
            <a:r>
              <a:rPr lang="it-IT" dirty="0" err="1"/>
              <a:t>levels</a:t>
            </a:r>
            <a:r>
              <a:rPr lang="it-IT" dirty="0"/>
              <a:t> of </a:t>
            </a:r>
            <a:r>
              <a:rPr lang="it-IT" dirty="0" err="1"/>
              <a:t>both</a:t>
            </a:r>
            <a:r>
              <a:rPr lang="it-IT" dirty="0"/>
              <a:t> health spending and life </a:t>
            </a:r>
            <a:r>
              <a:rPr lang="it-IT" dirty="0" err="1"/>
              <a:t>expectancy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Data</a:t>
            </a:r>
          </a:p>
          <a:p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 EU15: 0,96 (</a:t>
            </a:r>
            <a:r>
              <a:rPr lang="it-IT" dirty="0" err="1"/>
              <a:t>Very</a:t>
            </a:r>
            <a:r>
              <a:rPr lang="it-IT" dirty="0"/>
              <a:t> 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Pearson </a:t>
            </a:r>
            <a:r>
              <a:rPr lang="it-IT" dirty="0" err="1"/>
              <a:t>coefficient</a:t>
            </a:r>
            <a:r>
              <a:rPr lang="it-IT" dirty="0"/>
              <a:t> US: 0,82 (Strong positive </a:t>
            </a:r>
            <a:r>
              <a:rPr lang="it-IT" dirty="0" err="1"/>
              <a:t>relationship</a:t>
            </a:r>
            <a:r>
              <a:rPr lang="it-I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 EU15</a:t>
            </a:r>
            <a:r>
              <a:rPr lang="it-IT" b="0" dirty="0"/>
              <a:t>: </a:t>
            </a:r>
            <a:r>
              <a:rPr lang="en-US" b="0" baseline="0" dirty="0"/>
              <a:t>y = 0,0017x + 73,893; R² = 0,93 (Very strong explanatory power)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Simple Linear </a:t>
            </a:r>
            <a:r>
              <a:rPr lang="it-IT" dirty="0" err="1"/>
              <a:t>Regression</a:t>
            </a:r>
            <a:r>
              <a:rPr lang="it-IT" dirty="0"/>
              <a:t> US</a:t>
            </a:r>
            <a:r>
              <a:rPr lang="it-IT" b="0" dirty="0"/>
              <a:t>: </a:t>
            </a:r>
            <a:r>
              <a:rPr lang="en-US" b="0" baseline="0" dirty="0"/>
              <a:t>y = 0,0004x + 74,4; R² </a:t>
            </a:r>
            <a:r>
              <a:rPr lang="en-US" baseline="0" dirty="0"/>
              <a:t>(coefficient of determination)</a:t>
            </a:r>
            <a:r>
              <a:rPr lang="en-US" b="0" baseline="0" dirty="0"/>
              <a:t>= 0,67 (Strong explanatory power)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/>
              <a:t>Cumulative </a:t>
            </a:r>
            <a:r>
              <a:rPr lang="it-IT" b="1" dirty="0" err="1"/>
              <a:t>Growth</a:t>
            </a:r>
            <a:r>
              <a:rPr lang="it-IT" b="1" dirty="0"/>
              <a:t> in </a:t>
            </a:r>
            <a:r>
              <a:rPr b="1" dirty="0"/>
              <a:t>Health Expenditure per Capita</a:t>
            </a:r>
            <a:r>
              <a:rPr lang="it-IT" b="1" dirty="0"/>
              <a:t> and Life </a:t>
            </a:r>
            <a:r>
              <a:rPr lang="it-IT" b="1" dirty="0" err="1"/>
              <a:t>Expectancy</a:t>
            </a:r>
            <a:endParaRPr dirty="0"/>
          </a:p>
          <a:p>
            <a:r>
              <a:rPr lang="it-IT" dirty="0" err="1"/>
              <a:t>This</a:t>
            </a:r>
            <a:r>
              <a:rPr lang="it-IT" dirty="0"/>
              <a:t> chart </a:t>
            </a:r>
            <a:r>
              <a:rPr lang="it-IT" dirty="0" err="1"/>
              <a:t>compares</a:t>
            </a:r>
            <a:r>
              <a:rPr lang="it-IT" dirty="0"/>
              <a:t> the </a:t>
            </a:r>
            <a:r>
              <a:rPr lang="it-IT" dirty="0" err="1"/>
              <a:t>indexed</a:t>
            </a:r>
            <a:r>
              <a:rPr lang="it-IT" dirty="0"/>
              <a:t> cumulative </a:t>
            </a:r>
            <a:r>
              <a:rPr lang="it-IT" dirty="0" err="1"/>
              <a:t>growth</a:t>
            </a:r>
            <a:r>
              <a:rPr lang="it-IT" dirty="0"/>
              <a:t> of health </a:t>
            </a:r>
            <a:r>
              <a:rPr lang="it-IT" dirty="0" err="1"/>
              <a:t>expenditure</a:t>
            </a:r>
            <a:r>
              <a:rPr lang="it-IT" dirty="0"/>
              <a:t> per capita (in PPP international </a:t>
            </a:r>
            <a:r>
              <a:rPr lang="it-IT" dirty="0" err="1"/>
              <a:t>dollars</a:t>
            </a:r>
            <a:r>
              <a:rPr lang="it-IT" dirty="0"/>
              <a:t>) and life </a:t>
            </a:r>
            <a:r>
              <a:rPr lang="it-IT" dirty="0" err="1"/>
              <a:t>expectancy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birth</a:t>
            </a:r>
            <a:r>
              <a:rPr lang="it-IT" dirty="0"/>
              <a:t> in the US and EU15 countries from 1980 to 2021. Index = 100 in 1980.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health spending, the EU15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gains in life </a:t>
            </a:r>
            <a:r>
              <a:rPr lang="it-IT" dirty="0" err="1"/>
              <a:t>expectancy</a:t>
            </a:r>
            <a:r>
              <a:rPr lang="it-IT" dirty="0"/>
              <a:t> with </a:t>
            </a:r>
            <a:r>
              <a:rPr lang="it-IT" dirty="0" err="1"/>
              <a:t>lower</a:t>
            </a:r>
            <a:r>
              <a:rPr lang="it-IT" dirty="0"/>
              <a:t> cumulative </a:t>
            </a:r>
            <a:r>
              <a:rPr lang="it-IT" dirty="0" err="1"/>
              <a:t>expenditure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The </a:t>
            </a:r>
            <a:r>
              <a:rPr lang="it-IT" dirty="0" err="1"/>
              <a:t>growing</a:t>
            </a:r>
            <a:r>
              <a:rPr lang="it-IT" dirty="0"/>
              <a:t> </a:t>
            </a:r>
            <a:r>
              <a:rPr lang="it-IT" dirty="0" err="1"/>
              <a:t>divergence</a:t>
            </a:r>
            <a:r>
              <a:rPr lang="it-IT" dirty="0"/>
              <a:t>, </a:t>
            </a:r>
            <a:r>
              <a:rPr lang="it-IT" dirty="0" err="1"/>
              <a:t>especially</a:t>
            </a:r>
            <a:r>
              <a:rPr lang="it-IT" dirty="0"/>
              <a:t> after 2000, </a:t>
            </a:r>
            <a:r>
              <a:rPr lang="it-IT" dirty="0" err="1"/>
              <a:t>raises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</a:t>
            </a:r>
            <a:r>
              <a:rPr lang="it-IT" b="0" dirty="0"/>
              <a:t>cost-</a:t>
            </a:r>
            <a:r>
              <a:rPr lang="it-IT" b="0" dirty="0" err="1"/>
              <a:t>effectiveness</a:t>
            </a:r>
            <a:r>
              <a:rPr lang="it-IT" b="0" dirty="0"/>
              <a:t> and </a:t>
            </a:r>
            <a:r>
              <a:rPr lang="it-IT" b="0" dirty="0" err="1"/>
              <a:t>efficiency</a:t>
            </a:r>
            <a:r>
              <a:rPr lang="it-IT" b="0" dirty="0"/>
              <a:t> </a:t>
            </a:r>
            <a:r>
              <a:rPr lang="it-IT" dirty="0"/>
              <a:t>of the US </a:t>
            </a:r>
            <a:r>
              <a:rPr lang="it-IT" dirty="0" err="1"/>
              <a:t>healthcare</a:t>
            </a:r>
            <a:r>
              <a:rPr lang="it-IT" dirty="0"/>
              <a:t> system.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Health Expenditure per Capita</a:t>
            </a:r>
            <a:r>
              <a:rPr lang="it-IT" b="1" dirty="0"/>
              <a:t> and Health </a:t>
            </a:r>
            <a:r>
              <a:rPr lang="it-IT" b="1" dirty="0" err="1"/>
              <a:t>allocation</a:t>
            </a:r>
            <a:endParaRPr dirty="0"/>
          </a:p>
          <a:p>
            <a:r>
              <a:rPr lang="it-IT" dirty="0"/>
              <a:t>Left chart </a:t>
            </a:r>
            <a:r>
              <a:rPr lang="it-IT" dirty="0" err="1"/>
              <a:t>ranks</a:t>
            </a:r>
            <a:r>
              <a:rPr lang="it-IT" dirty="0"/>
              <a:t> countries by health </a:t>
            </a:r>
            <a:r>
              <a:rPr lang="it-IT" dirty="0" err="1"/>
              <a:t>expenditure</a:t>
            </a:r>
            <a:r>
              <a:rPr lang="it-IT" dirty="0"/>
              <a:t> per capita (PPP); the </a:t>
            </a:r>
            <a:r>
              <a:rPr lang="it-IT" dirty="0" err="1"/>
              <a:t>right</a:t>
            </a:r>
            <a:r>
              <a:rPr lang="it-IT" dirty="0"/>
              <a:t> </a:t>
            </a:r>
            <a:r>
              <a:rPr lang="it-IT" dirty="0" err="1"/>
              <a:t>ranks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health spending </a:t>
            </a:r>
            <a:r>
              <a:rPr lang="it-IT" dirty="0" err="1"/>
              <a:t>as</a:t>
            </a:r>
            <a:r>
              <a:rPr lang="it-IT" dirty="0"/>
              <a:t> a share of GDP </a:t>
            </a:r>
            <a:r>
              <a:rPr lang="it-IT" dirty="0" err="1"/>
              <a:t>across</a:t>
            </a:r>
            <a:r>
              <a:rPr lang="it-IT" dirty="0"/>
              <a:t> Europe and US in 2021.</a:t>
            </a:r>
          </a:p>
          <a:p>
            <a:endParaRPr lang="it-IT" dirty="0"/>
          </a:p>
          <a:p>
            <a:r>
              <a:rPr lang="it-IT" b="1" dirty="0" err="1"/>
              <a:t>Finding</a:t>
            </a:r>
            <a:endParaRPr lang="it-IT" b="1" dirty="0"/>
          </a:p>
          <a:p>
            <a:r>
              <a:rPr lang="it-IT" dirty="0"/>
              <a:t>On the </a:t>
            </a:r>
            <a:r>
              <a:rPr lang="it-IT" dirty="0" err="1"/>
              <a:t>left</a:t>
            </a:r>
            <a:r>
              <a:rPr lang="it-IT" dirty="0"/>
              <a:t>, </a:t>
            </a:r>
            <a:r>
              <a:rPr lang="it-IT" b="0" dirty="0"/>
              <a:t>health </a:t>
            </a:r>
            <a:r>
              <a:rPr lang="it-IT" b="0" dirty="0" err="1"/>
              <a:t>expenditure</a:t>
            </a:r>
            <a:r>
              <a:rPr lang="it-IT" b="0" dirty="0"/>
              <a:t> per capita (PPP) shows the </a:t>
            </a:r>
            <a:r>
              <a:rPr lang="it-IT" b="0" dirty="0" err="1"/>
              <a:t>absolute</a:t>
            </a:r>
            <a:r>
              <a:rPr lang="it-IT" b="0" dirty="0"/>
              <a:t> </a:t>
            </a:r>
            <a:r>
              <a:rPr lang="it-IT" b="0" dirty="0" err="1"/>
              <a:t>level</a:t>
            </a:r>
            <a:r>
              <a:rPr lang="it-IT" b="0" dirty="0"/>
              <a:t> of spending per </a:t>
            </a:r>
            <a:r>
              <a:rPr lang="it-IT" b="0" dirty="0" err="1"/>
              <a:t>person</a:t>
            </a:r>
            <a:r>
              <a:rPr lang="it-IT" b="0" dirty="0"/>
              <a:t>. The United States stands out </a:t>
            </a:r>
            <a:r>
              <a:rPr lang="it-IT" b="0" dirty="0" err="1"/>
              <a:t>dramatically</a:t>
            </a:r>
            <a:r>
              <a:rPr lang="it-IT" b="0" dirty="0"/>
              <a:t>, spending far more </a:t>
            </a:r>
            <a:r>
              <a:rPr lang="it-IT" b="0" dirty="0" err="1"/>
              <a:t>than</a:t>
            </a:r>
            <a:r>
              <a:rPr lang="it-IT" b="0" dirty="0"/>
              <a:t> </a:t>
            </a:r>
            <a:r>
              <a:rPr lang="it-IT" b="0" dirty="0" err="1"/>
              <a:t>any</a:t>
            </a:r>
            <a:r>
              <a:rPr lang="it-IT" b="0" dirty="0"/>
              <a:t> </a:t>
            </a:r>
            <a:r>
              <a:rPr lang="it-IT" b="0" dirty="0" err="1"/>
              <a:t>other</a:t>
            </a:r>
            <a:r>
              <a:rPr lang="it-IT" b="0" dirty="0"/>
              <a:t> country—more </a:t>
            </a:r>
            <a:r>
              <a:rPr lang="it-IT" b="0" dirty="0" err="1"/>
              <a:t>than</a:t>
            </a:r>
            <a:r>
              <a:rPr lang="it-IT" b="0" dirty="0"/>
              <a:t> 50% </a:t>
            </a:r>
            <a:r>
              <a:rPr lang="it-IT" b="0" dirty="0" err="1"/>
              <a:t>higher</a:t>
            </a:r>
            <a:r>
              <a:rPr lang="it-IT" b="0" dirty="0"/>
              <a:t> </a:t>
            </a:r>
            <a:r>
              <a:rPr lang="it-IT" b="0" dirty="0" err="1"/>
              <a:t>than</a:t>
            </a:r>
            <a:r>
              <a:rPr lang="it-IT" b="0" dirty="0"/>
              <a:t> </a:t>
            </a:r>
            <a:r>
              <a:rPr lang="it-IT" b="0" dirty="0" err="1"/>
              <a:t>Switzerland</a:t>
            </a:r>
            <a:r>
              <a:rPr lang="it-IT" b="0" dirty="0"/>
              <a:t>, the second-</a:t>
            </a:r>
            <a:r>
              <a:rPr lang="it-IT" b="0" dirty="0" err="1"/>
              <a:t>highest</a:t>
            </a:r>
            <a:r>
              <a:rPr lang="it-IT" b="0" dirty="0"/>
              <a:t> spender. On the </a:t>
            </a:r>
            <a:r>
              <a:rPr lang="it-IT" b="0" dirty="0" err="1"/>
              <a:t>right</a:t>
            </a:r>
            <a:r>
              <a:rPr lang="it-IT" b="0" dirty="0"/>
              <a:t>, health </a:t>
            </a:r>
            <a:r>
              <a:rPr lang="it-IT" b="0" dirty="0" err="1"/>
              <a:t>expenditure</a:t>
            </a:r>
            <a:r>
              <a:rPr lang="it-IT" b="0" dirty="0"/>
              <a:t> </a:t>
            </a:r>
            <a:r>
              <a:rPr lang="it-IT" b="0" dirty="0" err="1"/>
              <a:t>as</a:t>
            </a:r>
            <a:r>
              <a:rPr lang="it-IT" b="0" dirty="0"/>
              <a:t> a </a:t>
            </a:r>
            <a:r>
              <a:rPr lang="it-IT" b="0" dirty="0" err="1"/>
              <a:t>percentage</a:t>
            </a:r>
            <a:r>
              <a:rPr lang="it-IT" b="0" dirty="0"/>
              <a:t> of GDP </a:t>
            </a:r>
            <a:r>
              <a:rPr lang="it-IT" b="0" dirty="0" err="1"/>
              <a:t>reflects</a:t>
            </a:r>
            <a:r>
              <a:rPr lang="it-IT" b="0" dirty="0"/>
              <a:t> the relative </a:t>
            </a:r>
            <a:r>
              <a:rPr lang="it-IT" b="0" dirty="0" err="1"/>
              <a:t>effort</a:t>
            </a:r>
            <a:r>
              <a:rPr lang="it-IT" b="0" dirty="0"/>
              <a:t> or </a:t>
            </a:r>
            <a:r>
              <a:rPr lang="it-IT" b="0" dirty="0" err="1"/>
              <a:t>priority</a:t>
            </a:r>
            <a:r>
              <a:rPr lang="it-IT" b="0" dirty="0"/>
              <a:t> </a:t>
            </a:r>
            <a:r>
              <a:rPr lang="it-IT" b="0" dirty="0" err="1"/>
              <a:t>given</a:t>
            </a:r>
            <a:r>
              <a:rPr lang="it-IT" b="0" dirty="0"/>
              <a:t> to health in </a:t>
            </a:r>
            <a:r>
              <a:rPr lang="it-IT" b="0" dirty="0" err="1"/>
              <a:t>each</a:t>
            </a:r>
            <a:r>
              <a:rPr lang="it-IT" b="0" dirty="0"/>
              <a:t> economy. </a:t>
            </a:r>
            <a:r>
              <a:rPr lang="it-IT" b="0" dirty="0" err="1"/>
              <a:t>Again</a:t>
            </a:r>
            <a:r>
              <a:rPr lang="it-IT" b="0" dirty="0"/>
              <a:t>, the US leads by a wide </a:t>
            </a:r>
            <a:r>
              <a:rPr lang="it-IT" b="0" dirty="0" err="1"/>
              <a:t>margin</a:t>
            </a:r>
            <a:r>
              <a:rPr lang="it-IT" b="0" dirty="0"/>
              <a:t>, </a:t>
            </a:r>
            <a:r>
              <a:rPr lang="it-IT" b="0" dirty="0" err="1"/>
              <a:t>allocating</a:t>
            </a:r>
            <a:r>
              <a:rPr lang="it-IT" b="0" dirty="0"/>
              <a:t> over 17% of </a:t>
            </a:r>
            <a:r>
              <a:rPr lang="it-IT" b="0" dirty="0" err="1"/>
              <a:t>its</a:t>
            </a:r>
            <a:r>
              <a:rPr lang="it-IT" b="0" dirty="0"/>
              <a:t> GDP to health—</a:t>
            </a:r>
            <a:r>
              <a:rPr lang="it-IT" b="0" dirty="0" err="1"/>
              <a:t>well</a:t>
            </a:r>
            <a:r>
              <a:rPr lang="it-IT" b="0" dirty="0"/>
              <a:t> </a:t>
            </a:r>
            <a:r>
              <a:rPr lang="it-IT" b="0" dirty="0" err="1"/>
              <a:t>above</a:t>
            </a:r>
            <a:r>
              <a:rPr lang="it-IT" b="0" dirty="0"/>
              <a:t> the </a:t>
            </a:r>
            <a:r>
              <a:rPr lang="it-IT" b="0" dirty="0" err="1"/>
              <a:t>European</a:t>
            </a:r>
            <a:r>
              <a:rPr lang="it-IT" b="0" dirty="0"/>
              <a:t> </a:t>
            </a:r>
            <a:r>
              <a:rPr lang="it-IT" b="0" dirty="0" err="1"/>
              <a:t>average</a:t>
            </a:r>
            <a:r>
              <a:rPr lang="it-IT" b="0" dirty="0"/>
              <a:t>. </a:t>
            </a:r>
            <a:r>
              <a:rPr lang="it-IT" b="0" dirty="0" err="1"/>
              <a:t>This</a:t>
            </a:r>
            <a:r>
              <a:rPr lang="it-IT" b="0" dirty="0"/>
              <a:t> double </a:t>
            </a:r>
            <a:r>
              <a:rPr lang="it-IT" b="0" dirty="0" err="1"/>
              <a:t>outlier</a:t>
            </a:r>
            <a:r>
              <a:rPr lang="it-IT" b="0" dirty="0"/>
              <a:t> position—</a:t>
            </a:r>
            <a:r>
              <a:rPr lang="it-IT" b="0" dirty="0" err="1"/>
              <a:t>both</a:t>
            </a:r>
            <a:r>
              <a:rPr lang="it-IT" b="0" dirty="0"/>
              <a:t> in </a:t>
            </a:r>
            <a:r>
              <a:rPr lang="it-IT" b="0" dirty="0" err="1"/>
              <a:t>absolute</a:t>
            </a:r>
            <a:r>
              <a:rPr lang="it-IT" b="0" dirty="0"/>
              <a:t> and relative </a:t>
            </a:r>
            <a:r>
              <a:rPr lang="it-IT" b="0" dirty="0" err="1"/>
              <a:t>terms</a:t>
            </a:r>
            <a:r>
              <a:rPr lang="it-IT" b="0" dirty="0"/>
              <a:t>—</a:t>
            </a:r>
            <a:r>
              <a:rPr lang="it-IT" b="0" dirty="0" err="1"/>
              <a:t>raises</a:t>
            </a:r>
            <a:r>
              <a:rPr lang="it-IT" b="0" dirty="0"/>
              <a:t> </a:t>
            </a:r>
            <a:r>
              <a:rPr lang="it-IT" b="0" dirty="0" err="1"/>
              <a:t>important</a:t>
            </a:r>
            <a:r>
              <a:rPr lang="it-IT" b="0" dirty="0"/>
              <a:t> </a:t>
            </a:r>
            <a:r>
              <a:rPr lang="it-IT" b="0" dirty="0" err="1"/>
              <a:t>questions</a:t>
            </a:r>
            <a:r>
              <a:rPr lang="it-IT" b="0" dirty="0"/>
              <a:t> </a:t>
            </a:r>
            <a:r>
              <a:rPr lang="it-IT" b="0" dirty="0" err="1"/>
              <a:t>about</a:t>
            </a:r>
            <a:r>
              <a:rPr lang="it-IT" b="0" dirty="0"/>
              <a:t> </a:t>
            </a:r>
            <a:r>
              <a:rPr lang="it-IT" b="0" dirty="0" err="1"/>
              <a:t>efficiency</a:t>
            </a:r>
            <a:r>
              <a:rPr lang="it-IT" b="0" dirty="0"/>
              <a:t>, </a:t>
            </a:r>
            <a:r>
              <a:rPr lang="it-IT" b="0" dirty="0" err="1"/>
              <a:t>sustainability</a:t>
            </a:r>
            <a:r>
              <a:rPr lang="it-IT" b="0" dirty="0"/>
              <a:t>, and health system performance in the United States</a:t>
            </a:r>
            <a:r>
              <a:rPr lang="it-IT" dirty="0"/>
              <a:t>.</a:t>
            </a:r>
          </a:p>
          <a:p>
            <a:endParaRPr lang="it-IT" b="1" dirty="0"/>
          </a:p>
          <a:p>
            <a:r>
              <a:rPr lang="it-IT" b="1" dirty="0"/>
              <a:t>Note</a:t>
            </a:r>
          </a:p>
          <a:p>
            <a:r>
              <a:rPr lang="it-IT" b="0" dirty="0" err="1"/>
              <a:t>Ireland</a:t>
            </a:r>
            <a:r>
              <a:rPr lang="it-IT" b="0" dirty="0"/>
              <a:t> and Luxembourg are </a:t>
            </a:r>
            <a:r>
              <a:rPr lang="it-IT" b="0" dirty="0" err="1"/>
              <a:t>excluded</a:t>
            </a:r>
            <a:r>
              <a:rPr lang="it-IT" b="0" dirty="0"/>
              <a:t> from the </a:t>
            </a:r>
            <a:r>
              <a:rPr lang="it-IT" b="0" dirty="0" err="1"/>
              <a:t>comparison</a:t>
            </a:r>
            <a:r>
              <a:rPr lang="it-IT" b="0" dirty="0"/>
              <a:t> due to </a:t>
            </a:r>
            <a:r>
              <a:rPr lang="it-IT" b="0" dirty="0" err="1"/>
              <a:t>known</a:t>
            </a:r>
            <a:r>
              <a:rPr lang="it-IT" b="0" dirty="0"/>
              <a:t> </a:t>
            </a:r>
            <a:r>
              <a:rPr lang="it-IT" b="0" dirty="0" err="1"/>
              <a:t>statistical</a:t>
            </a:r>
            <a:r>
              <a:rPr lang="it-IT" b="0" dirty="0"/>
              <a:t> </a:t>
            </a:r>
            <a:r>
              <a:rPr lang="it-IT" b="0" dirty="0" err="1"/>
              <a:t>distorsions</a:t>
            </a:r>
            <a:r>
              <a:rPr lang="it-IT" b="0" dirty="0"/>
              <a:t>. </a:t>
            </a:r>
            <a:r>
              <a:rPr lang="it-IT" dirty="0"/>
              <a:t>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Ireland</a:t>
            </a:r>
            <a:r>
              <a:rPr lang="it-IT" dirty="0"/>
              <a:t> and Luxembourg, GDP </a:t>
            </a:r>
            <a:r>
              <a:rPr lang="it-IT" dirty="0" err="1"/>
              <a:t>figures</a:t>
            </a:r>
            <a:r>
              <a:rPr lang="it-IT" dirty="0"/>
              <a:t> are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inflated</a:t>
            </a:r>
            <a:r>
              <a:rPr lang="it-IT" dirty="0"/>
              <a:t> by </a:t>
            </a:r>
            <a:r>
              <a:rPr lang="it-IT" dirty="0" err="1"/>
              <a:t>multinational</a:t>
            </a:r>
            <a:r>
              <a:rPr lang="it-IT" dirty="0"/>
              <a:t> corporate activities, profit </a:t>
            </a:r>
            <a:r>
              <a:rPr lang="it-IT" dirty="0" err="1"/>
              <a:t>shifting</a:t>
            </a:r>
            <a:r>
              <a:rPr lang="it-IT" dirty="0"/>
              <a:t>, and cross-</a:t>
            </a:r>
            <a:r>
              <a:rPr lang="it-IT" dirty="0" err="1"/>
              <a:t>border</a:t>
            </a:r>
            <a:r>
              <a:rPr lang="it-IT" dirty="0"/>
              <a:t> </a:t>
            </a:r>
            <a:r>
              <a:rPr lang="it-IT" dirty="0" err="1"/>
              <a:t>commuter</a:t>
            </a:r>
            <a:r>
              <a:rPr lang="it-IT" dirty="0"/>
              <a:t> workers.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result</a:t>
            </a:r>
            <a:r>
              <a:rPr lang="it-IT" dirty="0"/>
              <a:t>, GDP per capita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representative</a:t>
            </a:r>
            <a:r>
              <a:rPr lang="it-IT" dirty="0"/>
              <a:t> of </a:t>
            </a:r>
            <a:r>
              <a:rPr lang="it-IT" dirty="0" err="1"/>
              <a:t>domestic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or spending </a:t>
            </a:r>
            <a:r>
              <a:rPr lang="it-IT" dirty="0" err="1"/>
              <a:t>capacity</a:t>
            </a:r>
            <a:r>
              <a:rPr lang="it-IT" dirty="0"/>
              <a:t>. </a:t>
            </a:r>
            <a:r>
              <a:rPr lang="it-IT" dirty="0" err="1"/>
              <a:t>These</a:t>
            </a:r>
            <a:r>
              <a:rPr lang="it-IT" dirty="0"/>
              <a:t> countries are </a:t>
            </a:r>
            <a:r>
              <a:rPr lang="it-IT" dirty="0" err="1"/>
              <a:t>excluded</a:t>
            </a:r>
            <a:r>
              <a:rPr lang="it-IT" dirty="0"/>
              <a:t> from the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a more accurate and </a:t>
            </a:r>
            <a:r>
              <a:rPr lang="it-IT" dirty="0" err="1"/>
              <a:t>meaningful</a:t>
            </a:r>
            <a:r>
              <a:rPr lang="it-IT" dirty="0"/>
              <a:t> cross-country </a:t>
            </a:r>
            <a:r>
              <a:rPr lang="it-IT" dirty="0" err="1"/>
              <a:t>comparison</a:t>
            </a:r>
            <a:r>
              <a:rPr lang="it-IT" dirty="0"/>
              <a:t>.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lorenzomazzolli/Portfolio_Macro_Analysis/blob/main/data/Health%20spending_Life%20expectancy_GDP%20per%20capita.xlsx" TargetMode="External"/><Relationship Id="rId4" Type="http://schemas.openxmlformats.org/officeDocument/2006/relationships/hyperlink" Target="https://app.powerbi.com/groups/me/reports/a4557c69-8751-4f0f-9ddf-584a2dea62f6?pbi_source=PowerPoi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4557c69-8751-4f0f-9ddf-584a2dea62f6/?pbi_source=PowerPo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Lente di ingrandimento che mostra prestazioni in calo">
            <a:extLst>
              <a:ext uri="{FF2B5EF4-FFF2-40B4-BE49-F238E27FC236}">
                <a16:creationId xmlns:a16="http://schemas.microsoft.com/office/drawing/2014/main" id="{5ED28BAF-AF45-E4EC-D53B-255319A9E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65" b="7865"/>
          <a:stretch>
            <a:fillRect/>
          </a:stretch>
        </p:blipFill>
        <p:spPr>
          <a:xfrm>
            <a:off x="20" y="-498764"/>
            <a:ext cx="12191980" cy="816032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AC841E-8C7A-F547-28FB-23CBCBDB0633}"/>
              </a:ext>
            </a:extLst>
          </p:cNvPr>
          <p:cNvSpPr txBox="1">
            <a:spLocks/>
          </p:cNvSpPr>
          <p:nvPr/>
        </p:nvSpPr>
        <p:spPr>
          <a:xfrm>
            <a:off x="1857375" y="1885950"/>
            <a:ext cx="8477250" cy="31517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4500" b="1" dirty="0">
                <a:latin typeface="+mj-lt"/>
                <a:ea typeface="+mj-ea"/>
                <a:cs typeface="+mj-cs"/>
              </a:rPr>
              <a:t>Health Spending, Life Expectancy, and GDP per Capita: A Comparative Analysis Between Europe and the US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274E97A-1E43-C094-C850-4C171E692969}"/>
              </a:ext>
            </a:extLst>
          </p:cNvPr>
          <p:cNvSpPr txBox="1">
            <a:spLocks/>
          </p:cNvSpPr>
          <p:nvPr/>
        </p:nvSpPr>
        <p:spPr>
          <a:xfrm>
            <a:off x="4575295" y="4759800"/>
            <a:ext cx="2025087" cy="274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dirty="0">
                <a:solidFill>
                  <a:schemeClr val="bg1"/>
                </a:solidFill>
                <a:hlinkClick r:id="rId4"/>
              </a:rPr>
              <a:t>View in Power BI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823D357-EBA8-0146-D653-509310F7F799}"/>
              </a:ext>
            </a:extLst>
          </p:cNvPr>
          <p:cNvSpPr txBox="1">
            <a:spLocks/>
          </p:cNvSpPr>
          <p:nvPr/>
        </p:nvSpPr>
        <p:spPr>
          <a:xfrm>
            <a:off x="6096000" y="4756718"/>
            <a:ext cx="2025087" cy="274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dirty="0">
                <a:solidFill>
                  <a:schemeClr val="bg1"/>
                </a:solidFill>
                <a:hlinkClick r:id="rId5"/>
              </a:rPr>
              <a:t>View in Excel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5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A30501A-F125-CC0C-523D-0E9F15E3BF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8764" y="678873"/>
          <a:ext cx="10856624" cy="5182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175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vs Life expectancy</a:t>
            </a:r>
          </a:p>
        </p:txBody>
      </p:sp>
      <p:pic>
        <p:nvPicPr>
          <p:cNvPr id="2" name="Picture" title="This slide contains the following visuals: Health Expenditure vs LIfe Expectancy 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83F3331C-432C-9AFB-9ED1-5505C3EE6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GDP vs Health Expenditur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vs GDP per capita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Allocation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Expenditure per Capita vs Life Expectancy over tim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and Life expectancy over time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pic>
        <p:nvPicPr>
          <p:cNvPr id="2" name="Picture" title="This slide contains the following visuals: Health Expenditure Growth ,Life Expectancy Growth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FEBC9D8F-4984-EA41-3822-C216E069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4"/>
            <a:ext cx="12192000" cy="69014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Health Allocation ,Health Expenditure per Capita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Expenditure per capita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1449</Words>
  <Application>Microsoft Macintosh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Custom Design</vt:lpstr>
      <vt:lpstr>Presentazione standard di PowerPoint</vt:lpstr>
      <vt:lpstr>Presentazione standard di PowerPoint</vt:lpstr>
      <vt:lpstr>Health expenditure vs Life expectancy</vt:lpstr>
      <vt:lpstr>Health expenditure vs GDP per capita</vt:lpstr>
      <vt:lpstr>Health allocation</vt:lpstr>
      <vt:lpstr>Health expenditure and Life expectancy over time </vt:lpstr>
      <vt:lpstr>Indexes</vt:lpstr>
      <vt:lpstr>Health Expenditure per capita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Lorenzo Mazzolli</cp:lastModifiedBy>
  <cp:revision>20</cp:revision>
  <dcterms:created xsi:type="dcterms:W3CDTF">2016-09-04T11:54:55Z</dcterms:created>
  <dcterms:modified xsi:type="dcterms:W3CDTF">2025-09-07T21:35:56Z</dcterms:modified>
</cp:coreProperties>
</file>